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14.jpg" ContentType="image/pn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81" r:id="rId2"/>
    <p:sldId id="258" r:id="rId3"/>
    <p:sldId id="257" r:id="rId4"/>
    <p:sldId id="276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3" r:id="rId16"/>
    <p:sldId id="274" r:id="rId17"/>
    <p:sldId id="277" r:id="rId18"/>
    <p:sldId id="278" r:id="rId19"/>
    <p:sldId id="279" r:id="rId20"/>
    <p:sldId id="321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7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D9F4BB-7DC6-48D3-A01E-93F8074FD574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C82046-4235-42FD-B5A9-5F455AFF42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275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82046-4235-42FD-B5A9-5F455AFF428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5301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E927F-8C9F-B31F-97A1-2D9F386B0C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6AF271D-A4DB-F2C8-D251-317C94DB1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3815A5-0293-A14B-F108-33ED1C515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828088-E904-C94D-7DD8-984DC0093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B07B7-051B-60AF-EFD1-74E02B454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270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1CA431-CFAB-9432-709A-C93FCB260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7B5ADC-EA96-DC33-46D4-59769783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79F528-4A59-B3A5-6BD0-EBEBE111A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D826ED-5064-01E0-7745-C037B789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6F7EE0-8725-E002-8534-8B959EE48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167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D67FAE-4D27-696E-AAB3-3CE932DE8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866D94-3F8A-ECC8-33C2-EC1B7CDC5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572520-D18A-7F57-378D-81A63A7DF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73ED99-DFAC-4150-CAD9-F162716F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A970BB-F5E2-2847-23EF-367C87F92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7162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A10BE-D0A3-3215-3AD6-A081D5E88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0D3D63-8998-0BF1-0033-F4DE9D5240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CEEC69-8421-7522-AD06-85A954C24B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92F713C-110E-77D2-16E9-6DBE7C1ED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61F718-5119-C229-D025-663F3A94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39E8DF-A356-FBDF-5F8C-3110AC037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5806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41749D-B5C5-72D4-8AF6-8B78AAB91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3BD1ED-CF3E-B2B3-075D-954C63592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61CD25-8C10-1297-C063-28BDF81A6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587BA13-7F4B-FC3F-769C-32D73B4AA3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C68544D-E3D8-F8F5-96E1-283C098D0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89BCFBA-97EA-0ACB-142E-9D48F9344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49B2997-F58C-DCF4-0D39-90753081B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0208707-604D-B1E0-5708-77073DD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3538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11FDE6-D585-E02A-6599-C7CA81ED2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0CD2150-2D32-5D4B-26B0-86377691A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2DC6503-55DB-C5D6-979C-209AA87CE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15C5A6B-A7D9-C191-A9D1-A65608595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839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23C32EE-6E4B-EC53-EFB0-E5A92752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74D1DD1-D9CF-26DD-276E-BF57FE46A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0CB5E4-7FF3-2FB9-A9C2-2D0DBD77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4288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A0F321-8C5F-6DC2-2A3B-200B2FC3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63ED08-1281-6C83-D36D-C39B44413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EDDFAF-8769-AA0C-3C79-D741D5CB31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63A3EB8-3999-C737-B513-60C5D6301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5B9C9E-CCA4-A143-6979-79BE4AB26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2EE44A-C75A-2801-D6B4-73CF50D8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6210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D650AC-3F7D-97DE-9F16-9747F5A6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08D3C3D-2D7A-C442-2EC1-61D360CF36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4A6A8C-2578-685F-A7C1-92A1EA4A9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DEE704-167B-E64A-0FE9-4D633BBD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BA8BFB-1077-7B95-4E72-78B36CD99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16B0581-BEBD-3D6C-E985-F50BF72E5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8063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54011-30DB-5412-5978-B6E144A2F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27AA00E-AFBB-F28D-C782-77BF1168B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CC551C-84E5-774B-C720-207416DBD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19B6F0-76F4-F2E5-3B7B-A153BBA64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D4058C-D438-57BF-30B7-39DCC1C8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9870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C0D10EB-BE66-72B6-84F1-E25AB63533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78F9A66-31C8-2692-88FC-705BAFE9B1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4E86CA-A9AE-00B2-CAA9-5E5FC7D7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978658-687B-B5F4-5B9B-96274A5F2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C47F7D-2D67-65B9-631A-FD6F5F3BE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203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8893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ADC465C-9420-90B2-013B-1C235E09E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87996CB-8EF6-C292-B719-158E04DC5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527C2F-CAF0-C29C-EDCB-7B67C9387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C572FF-2091-4512-92BE-AA76CC80949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3E3EA6-6511-6874-9448-E43AD55D0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B5D095-9870-0A4A-4DFE-34D92E261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716F8-83FC-4298-A841-A7CC60E447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901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651428"/>
            <a:ext cx="12192000" cy="35551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  <p:sp>
        <p:nvSpPr>
          <p:cNvPr id="45" name="矩形 44"/>
          <p:cNvSpPr/>
          <p:nvPr/>
        </p:nvSpPr>
        <p:spPr bwMode="auto">
          <a:xfrm>
            <a:off x="2051256" y="2961310"/>
            <a:ext cx="818685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4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二手商品交易平台数据库系统</a:t>
            </a:r>
            <a:endParaRPr lang="zh-CN" altLang="en-US" sz="4800" b="1" kern="100" dirty="0">
              <a:solidFill>
                <a:schemeClr val="bg1"/>
              </a:solidFill>
              <a:latin typeface="思源黑体" panose="020B0500000000000000" pitchFamily="34" charset="-122"/>
              <a:ea typeface="思源黑体" panose="020B0500000000000000" pitchFamily="34" charset="-122"/>
              <a:cs typeface="Times New Roman" panose="02020603050405020304" pitchFamily="18" charset="0"/>
              <a:sym typeface="思源黑体" panose="020B0500000000000000" pitchFamily="34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240425" y="4092455"/>
            <a:ext cx="780851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altLang="zh-CN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23373526-</a:t>
            </a:r>
            <a:r>
              <a:rPr lang="zh-CN" altLang="en-US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华家璇  </a:t>
            </a:r>
            <a:r>
              <a:rPr lang="en-US" altLang="zh-CN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23371131-</a:t>
            </a:r>
            <a:r>
              <a:rPr lang="zh-CN" altLang="en-US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王宇博</a:t>
            </a:r>
            <a:endParaRPr lang="en-US" altLang="zh-CN" sz="3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思源黑体" panose="020B0500000000000000" pitchFamily="34" charset="-122"/>
            </a:endParaRPr>
          </a:p>
        </p:txBody>
      </p:sp>
      <p:sp>
        <p:nvSpPr>
          <p:cNvPr id="37" name="椭圆 36"/>
          <p:cNvSpPr/>
          <p:nvPr/>
        </p:nvSpPr>
        <p:spPr>
          <a:xfrm>
            <a:off x="5180857" y="786474"/>
            <a:ext cx="1927655" cy="1927655"/>
          </a:xfrm>
          <a:prstGeom prst="ellipse">
            <a:avLst/>
          </a:prstGeom>
          <a:solidFill>
            <a:schemeClr val="accent1"/>
          </a:solidFill>
          <a:ln w="57150">
            <a:solidFill>
              <a:srgbClr val="F8F8F9"/>
            </a:solidFill>
          </a:ln>
          <a:effectLst>
            <a:outerShdw blurRad="101600" dist="1016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  <p:sp>
        <p:nvSpPr>
          <p:cNvPr id="44" name="medal-of-award_49824"/>
          <p:cNvSpPr>
            <a:spLocks noChangeAspect="1"/>
          </p:cNvSpPr>
          <p:nvPr/>
        </p:nvSpPr>
        <p:spPr bwMode="auto">
          <a:xfrm>
            <a:off x="5420035" y="1351280"/>
            <a:ext cx="1473851" cy="854141"/>
          </a:xfrm>
          <a:custGeom>
            <a:avLst/>
            <a:gdLst>
              <a:gd name="connsiteX0" fmla="*/ 104550 w 604718"/>
              <a:gd name="connsiteY0" fmla="*/ 208330 h 382112"/>
              <a:gd name="connsiteX1" fmla="*/ 156180 w 604718"/>
              <a:gd name="connsiteY1" fmla="*/ 208330 h 382112"/>
              <a:gd name="connsiteX2" fmla="*/ 261642 w 604718"/>
              <a:gd name="connsiteY2" fmla="*/ 248878 h 382112"/>
              <a:gd name="connsiteX3" fmla="*/ 298947 w 604718"/>
              <a:gd name="connsiteY3" fmla="*/ 255007 h 382112"/>
              <a:gd name="connsiteX4" fmla="*/ 340187 w 604718"/>
              <a:gd name="connsiteY4" fmla="*/ 247621 h 382112"/>
              <a:gd name="connsiteX5" fmla="*/ 433687 w 604718"/>
              <a:gd name="connsiteY5" fmla="*/ 208330 h 382112"/>
              <a:gd name="connsiteX6" fmla="*/ 490825 w 604718"/>
              <a:gd name="connsiteY6" fmla="*/ 208330 h 382112"/>
              <a:gd name="connsiteX7" fmla="*/ 490825 w 604718"/>
              <a:gd name="connsiteY7" fmla="*/ 271509 h 382112"/>
              <a:gd name="connsiteX8" fmla="*/ 458400 w 604718"/>
              <a:gd name="connsiteY8" fmla="*/ 320701 h 382112"/>
              <a:gd name="connsiteX9" fmla="*/ 329326 w 604718"/>
              <a:gd name="connsiteY9" fmla="*/ 376337 h 382112"/>
              <a:gd name="connsiteX10" fmla="*/ 264632 w 604718"/>
              <a:gd name="connsiteY10" fmla="*/ 376337 h 382112"/>
              <a:gd name="connsiteX11" fmla="*/ 136819 w 604718"/>
              <a:gd name="connsiteY11" fmla="*/ 320701 h 382112"/>
              <a:gd name="connsiteX12" fmla="*/ 104550 w 604718"/>
              <a:gd name="connsiteY12" fmla="*/ 271509 h 382112"/>
              <a:gd name="connsiteX13" fmla="*/ 300973 w 604718"/>
              <a:gd name="connsiteY13" fmla="*/ 5 h 382112"/>
              <a:gd name="connsiteX14" fmla="*/ 334162 w 604718"/>
              <a:gd name="connsiteY14" fmla="*/ 4701 h 382112"/>
              <a:gd name="connsiteX15" fmla="*/ 581267 w 604718"/>
              <a:gd name="connsiteY15" fmla="*/ 92552 h 382112"/>
              <a:gd name="connsiteX16" fmla="*/ 588822 w 604718"/>
              <a:gd name="connsiteY16" fmla="*/ 114398 h 382112"/>
              <a:gd name="connsiteX17" fmla="*/ 589136 w 604718"/>
              <a:gd name="connsiteY17" fmla="*/ 114398 h 382112"/>
              <a:gd name="connsiteX18" fmla="*/ 589136 w 604718"/>
              <a:gd name="connsiteY18" fmla="*/ 270771 h 382112"/>
              <a:gd name="connsiteX19" fmla="*/ 604718 w 604718"/>
              <a:gd name="connsiteY19" fmla="*/ 321376 h 382112"/>
              <a:gd name="connsiteX20" fmla="*/ 561278 w 604718"/>
              <a:gd name="connsiteY20" fmla="*/ 321376 h 382112"/>
              <a:gd name="connsiteX21" fmla="*/ 576388 w 604718"/>
              <a:gd name="connsiteY21" fmla="*/ 271242 h 382112"/>
              <a:gd name="connsiteX22" fmla="*/ 576388 w 604718"/>
              <a:gd name="connsiteY22" fmla="*/ 120370 h 382112"/>
              <a:gd name="connsiteX23" fmla="*/ 333376 w 604718"/>
              <a:gd name="connsiteY23" fmla="*/ 222680 h 382112"/>
              <a:gd name="connsiteX24" fmla="*/ 268058 w 604718"/>
              <a:gd name="connsiteY24" fmla="*/ 223780 h 382112"/>
              <a:gd name="connsiteX25" fmla="*/ 13556 w 604718"/>
              <a:gd name="connsiteY25" fmla="*/ 125870 h 382112"/>
              <a:gd name="connsiteX26" fmla="*/ 13714 w 604718"/>
              <a:gd name="connsiteY26" fmla="*/ 100882 h 382112"/>
              <a:gd name="connsiteX27" fmla="*/ 267901 w 604718"/>
              <a:gd name="connsiteY27" fmla="*/ 5329 h 382112"/>
              <a:gd name="connsiteX28" fmla="*/ 300973 w 604718"/>
              <a:gd name="connsiteY28" fmla="*/ 5 h 382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4718" h="382112">
                <a:moveTo>
                  <a:pt x="104550" y="208330"/>
                </a:moveTo>
                <a:lnTo>
                  <a:pt x="156180" y="208330"/>
                </a:lnTo>
                <a:lnTo>
                  <a:pt x="261642" y="248878"/>
                </a:lnTo>
                <a:cubicBezTo>
                  <a:pt x="274864" y="253907"/>
                  <a:pt x="289188" y="255007"/>
                  <a:pt x="298947" y="255007"/>
                </a:cubicBezTo>
                <a:cubicBezTo>
                  <a:pt x="314373" y="255007"/>
                  <a:pt x="329012" y="252493"/>
                  <a:pt x="340187" y="247621"/>
                </a:cubicBezTo>
                <a:lnTo>
                  <a:pt x="433687" y="208330"/>
                </a:lnTo>
                <a:lnTo>
                  <a:pt x="490825" y="208330"/>
                </a:lnTo>
                <a:lnTo>
                  <a:pt x="490825" y="271509"/>
                </a:lnTo>
                <a:cubicBezTo>
                  <a:pt x="490825" y="290998"/>
                  <a:pt x="476344" y="313000"/>
                  <a:pt x="458400" y="320701"/>
                </a:cubicBezTo>
                <a:lnTo>
                  <a:pt x="329326" y="376337"/>
                </a:lnTo>
                <a:cubicBezTo>
                  <a:pt x="311382" y="384038"/>
                  <a:pt x="282419" y="384038"/>
                  <a:pt x="264632" y="376337"/>
                </a:cubicBezTo>
                <a:lnTo>
                  <a:pt x="136819" y="320701"/>
                </a:lnTo>
                <a:cubicBezTo>
                  <a:pt x="119032" y="313000"/>
                  <a:pt x="104550" y="290998"/>
                  <a:pt x="104550" y="271509"/>
                </a:cubicBezTo>
                <a:close/>
                <a:moveTo>
                  <a:pt x="300973" y="5"/>
                </a:moveTo>
                <a:cubicBezTo>
                  <a:pt x="312954" y="-93"/>
                  <a:pt x="324955" y="1479"/>
                  <a:pt x="334162" y="4701"/>
                </a:cubicBezTo>
                <a:lnTo>
                  <a:pt x="581267" y="92552"/>
                </a:lnTo>
                <a:cubicBezTo>
                  <a:pt x="596849" y="98053"/>
                  <a:pt x="599210" y="107168"/>
                  <a:pt x="588822" y="114398"/>
                </a:cubicBezTo>
                <a:lnTo>
                  <a:pt x="589136" y="114398"/>
                </a:lnTo>
                <a:lnTo>
                  <a:pt x="589136" y="270771"/>
                </a:lnTo>
                <a:lnTo>
                  <a:pt x="604718" y="321376"/>
                </a:lnTo>
                <a:lnTo>
                  <a:pt x="561278" y="321376"/>
                </a:lnTo>
                <a:lnTo>
                  <a:pt x="576388" y="271242"/>
                </a:lnTo>
                <a:lnTo>
                  <a:pt x="576388" y="120370"/>
                </a:lnTo>
                <a:lnTo>
                  <a:pt x="333376" y="222680"/>
                </a:lnTo>
                <a:cubicBezTo>
                  <a:pt x="315433" y="230224"/>
                  <a:pt x="286158" y="230695"/>
                  <a:pt x="268058" y="223780"/>
                </a:cubicBezTo>
                <a:lnTo>
                  <a:pt x="13556" y="125870"/>
                </a:lnTo>
                <a:cubicBezTo>
                  <a:pt x="-4544" y="118798"/>
                  <a:pt x="-4544" y="107640"/>
                  <a:pt x="13714" y="100882"/>
                </a:cubicBezTo>
                <a:lnTo>
                  <a:pt x="267901" y="5329"/>
                </a:lnTo>
                <a:cubicBezTo>
                  <a:pt x="277030" y="1872"/>
                  <a:pt x="288991" y="104"/>
                  <a:pt x="300973" y="5"/>
                </a:cubicBezTo>
                <a:close/>
              </a:path>
            </a:pathLst>
          </a:custGeom>
          <a:solidFill>
            <a:schemeClr val="bg1"/>
          </a:solidFill>
          <a:ln w="31750"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9170">
              <a:defRPr/>
            </a:pPr>
            <a:endParaRPr lang="zh-CN" altLang="en-US" sz="2400">
              <a:solidFill>
                <a:srgbClr val="30A081"/>
              </a:solidFill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20ABF9-2F1D-F3F0-8FE4-3BD4B53B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分工与工作量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56FF1A-72E0-049A-2245-8DB16384D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944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23373526-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华家璇 </a:t>
            </a:r>
            <a:endParaRPr lang="en-US" altLang="zh-CN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系统功能的设计以及用户管理功能与前端的实现 	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0.5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23371131-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王宇博</a:t>
            </a:r>
            <a:endParaRPr lang="en-US" altLang="zh-CN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系统数据库的设计以及各数据操作功能的实现  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0.5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/>
              <a:t>	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8185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A42759-D263-02A8-449C-75BEF3E6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数据库设计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7B7773-2E7B-7195-8AFC-76E30D518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183" y="1601889"/>
            <a:ext cx="10515600" cy="4351338"/>
          </a:xfrm>
        </p:spPr>
        <p:txBody>
          <a:bodyPr>
            <a:normAutofit/>
          </a:bodyPr>
          <a:lstStyle/>
          <a:p>
            <a:r>
              <a:rPr lang="zh-CN" altLang="en-US" sz="3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需求</a:t>
            </a:r>
            <a:endParaRPr lang="en-US" altLang="zh-CN" sz="3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支持二手商品的发布、浏览与购买</a:t>
            </a:r>
          </a:p>
          <a:p>
            <a:pPr lvl="1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用户可上架、编辑和删除自己的商品</a:t>
            </a:r>
          </a:p>
          <a:p>
            <a:pPr lvl="1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商品支持图片上传、分类选择与信息描述</a:t>
            </a:r>
          </a:p>
          <a:p>
            <a:pPr lvl="1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提供分类筛选、关键词搜索和收藏功能</a:t>
            </a:r>
          </a:p>
          <a:p>
            <a:pPr lvl="1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支持商品评论与实时私信交流</a:t>
            </a:r>
          </a:p>
          <a:p>
            <a:pPr lvl="1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用户可维护个人信息与收藏夹</a:t>
            </a:r>
          </a:p>
        </p:txBody>
      </p:sp>
    </p:spTree>
    <p:extLst>
      <p:ext uri="{BB962C8B-B14F-4D97-AF65-F5344CB8AC3E}">
        <p14:creationId xmlns:p14="http://schemas.microsoft.com/office/powerpoint/2010/main" val="1234232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F176-A375-13D1-16A0-54D9A8FB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F294EF-18FF-23F0-37F8-9857AEA9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数据库设计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FAC7E4-CE14-B08F-2E13-5F6DB6F69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183" y="1426398"/>
            <a:ext cx="10515600" cy="4351338"/>
          </a:xfrm>
        </p:spPr>
        <p:txBody>
          <a:bodyPr>
            <a:normAutofit/>
          </a:bodyPr>
          <a:lstStyle/>
          <a:p>
            <a:r>
              <a:rPr lang="zh-CN" altLang="en-US" sz="3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核心功能总结</a:t>
            </a:r>
            <a:endParaRPr lang="en-US" altLang="zh-CN" sz="3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9F5B34F-B781-CD1D-9A40-B809A23E9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72" y="919301"/>
            <a:ext cx="7383787" cy="523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523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5532F-48C9-2EE4-37F4-6BF307394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3E765D-1EAE-FFE4-0369-E22C4C64F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数据库设计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EF0E12-4A1F-B920-EAD0-B2E74BAE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ER</a:t>
            </a:r>
            <a:r>
              <a:rPr lang="zh-CN" altLang="en-US" dirty="0"/>
              <a:t>图</a:t>
            </a:r>
          </a:p>
        </p:txBody>
      </p:sp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FEA8A394-6187-4FD9-6067-22B1020B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87"/>
          <a:stretch>
            <a:fillRect/>
          </a:stretch>
        </p:blipFill>
        <p:spPr>
          <a:xfrm>
            <a:off x="3890798" y="1496098"/>
            <a:ext cx="7257099" cy="4194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16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5BE36-E25A-CBDB-27C5-AF482C0F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6B1C10-9A3B-1AC8-33D7-B04F7D588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数据库设计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3B186E-4FDF-27FB-357E-CAFD98464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数据流图</a:t>
            </a:r>
          </a:p>
        </p:txBody>
      </p:sp>
      <p:pic>
        <p:nvPicPr>
          <p:cNvPr id="6" name="图片 5" descr="图示&#10;&#10;AI 生成的内容可能不正确。">
            <a:extLst>
              <a:ext uri="{FF2B5EF4-FFF2-40B4-BE49-F238E27FC236}">
                <a16:creationId xmlns:a16="http://schemas.microsoft.com/office/drawing/2014/main" id="{8119FFA8-6FC4-66F3-F499-C21CE5AA3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635" y="0"/>
            <a:ext cx="7355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797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59A1-7DCC-2A9C-9803-5D3F3F2C2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183218-FA23-3D1A-B21D-8C2836586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087" y="0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系统架构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A86F531-2323-A7DF-42A3-7179E2DB81FC}"/>
              </a:ext>
            </a:extLst>
          </p:cNvPr>
          <p:cNvSpPr/>
          <p:nvPr/>
        </p:nvSpPr>
        <p:spPr>
          <a:xfrm>
            <a:off x="5515583" y="5214026"/>
            <a:ext cx="5583677" cy="107977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9A37908-ED0F-0C93-F968-5B762864BCDA}"/>
              </a:ext>
            </a:extLst>
          </p:cNvPr>
          <p:cNvSpPr/>
          <p:nvPr/>
        </p:nvSpPr>
        <p:spPr>
          <a:xfrm>
            <a:off x="5515582" y="3265251"/>
            <a:ext cx="5583677" cy="107977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DF98E9A-C24E-DAC6-B167-F189EF708FB5}"/>
              </a:ext>
            </a:extLst>
          </p:cNvPr>
          <p:cNvSpPr/>
          <p:nvPr/>
        </p:nvSpPr>
        <p:spPr>
          <a:xfrm>
            <a:off x="5515582" y="1316476"/>
            <a:ext cx="5583677" cy="107977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73E6B311-0B64-AD8F-A378-94A88130C967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307421" y="2396246"/>
            <a:ext cx="0" cy="86900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DC5F07F-A6A3-9A7A-82C5-450662164D08}"/>
              </a:ext>
            </a:extLst>
          </p:cNvPr>
          <p:cNvCxnSpPr/>
          <p:nvPr/>
        </p:nvCxnSpPr>
        <p:spPr>
          <a:xfrm flipV="1">
            <a:off x="8307420" y="4345021"/>
            <a:ext cx="0" cy="86900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D21DFE99-1C3C-CA32-F27D-80955A02FF04}"/>
              </a:ext>
            </a:extLst>
          </p:cNvPr>
          <p:cNvSpPr txBox="1"/>
          <p:nvPr/>
        </p:nvSpPr>
        <p:spPr>
          <a:xfrm>
            <a:off x="5739318" y="1583682"/>
            <a:ext cx="5136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/>
              <a:t>前端 （</a:t>
            </a:r>
            <a:r>
              <a:rPr lang="en-US" altLang="zh-CN" b="1" dirty="0"/>
              <a:t>Vue + Element Plus</a:t>
            </a:r>
            <a:r>
              <a:rPr lang="zh-CN" altLang="en-US" b="1" dirty="0"/>
              <a:t>）</a:t>
            </a:r>
            <a:endParaRPr lang="en-US" altLang="zh-CN" b="1" dirty="0"/>
          </a:p>
          <a:p>
            <a:pPr algn="ctr"/>
            <a:r>
              <a:rPr lang="zh-CN" altLang="en-US" dirty="0"/>
              <a:t>数据展示 页面渲染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47769A-1DC2-9261-CF7D-1BD00EA4D33D}"/>
              </a:ext>
            </a:extLst>
          </p:cNvPr>
          <p:cNvSpPr txBox="1"/>
          <p:nvPr/>
        </p:nvSpPr>
        <p:spPr>
          <a:xfrm>
            <a:off x="5629071" y="3487925"/>
            <a:ext cx="5136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/>
              <a:t>后端 （</a:t>
            </a:r>
            <a:r>
              <a:rPr lang="en-US" altLang="zh-CN" b="1" dirty="0"/>
              <a:t>Python</a:t>
            </a:r>
            <a:r>
              <a:rPr lang="zh-CN" altLang="en-US" b="1" dirty="0"/>
              <a:t>）</a:t>
            </a:r>
            <a:endParaRPr lang="en-US" altLang="zh-CN" b="1" dirty="0"/>
          </a:p>
          <a:p>
            <a:pPr algn="ctr"/>
            <a:r>
              <a:rPr lang="zh-CN" altLang="en-US" dirty="0"/>
              <a:t>用户管理  权限与业务逻辑处理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8FE6B2D-D758-F72D-E631-A9C8A38B1F3C}"/>
              </a:ext>
            </a:extLst>
          </p:cNvPr>
          <p:cNvSpPr txBox="1"/>
          <p:nvPr/>
        </p:nvSpPr>
        <p:spPr>
          <a:xfrm>
            <a:off x="5629071" y="5436700"/>
            <a:ext cx="5136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/>
              <a:t>数据库（华为</a:t>
            </a:r>
            <a:r>
              <a:rPr lang="en-US" altLang="zh-CN" b="1" dirty="0" err="1"/>
              <a:t>TaurusDB</a:t>
            </a:r>
            <a:r>
              <a:rPr lang="zh-CN" altLang="en-US" b="1" dirty="0"/>
              <a:t>）</a:t>
            </a:r>
            <a:endParaRPr lang="en-US" altLang="zh-CN" b="1" dirty="0"/>
          </a:p>
          <a:p>
            <a:pPr algn="ctr"/>
            <a:r>
              <a:rPr lang="zh-CN" altLang="en-US" dirty="0"/>
              <a:t>数据存取 执行</a:t>
            </a:r>
            <a:r>
              <a:rPr lang="en-US" altLang="zh-CN" dirty="0" err="1"/>
              <a:t>sql</a:t>
            </a:r>
            <a:r>
              <a:rPr lang="zh-CN" altLang="en-US" dirty="0"/>
              <a:t>语句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26BC0D2-B0A4-A77E-B6F8-706F74748262}"/>
              </a:ext>
            </a:extLst>
          </p:cNvPr>
          <p:cNvSpPr txBox="1"/>
          <p:nvPr/>
        </p:nvSpPr>
        <p:spPr>
          <a:xfrm>
            <a:off x="333346" y="1019758"/>
            <a:ext cx="5125492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前端层</a:t>
            </a:r>
            <a:endParaRPr lang="en-US" altLang="zh-CN" sz="3200" dirty="0"/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 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Vue 3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构建应用</a:t>
            </a:r>
          </a:p>
          <a:p>
            <a:endParaRPr lang="zh-CN" altLang="en-US" dirty="0"/>
          </a:p>
          <a:p>
            <a:r>
              <a:rPr lang="zh-CN" altLang="en-US" sz="3200" b="1" dirty="0"/>
              <a:t>后端层</a:t>
            </a:r>
            <a:endParaRPr lang="en-US" altLang="zh-CN" sz="3200" b="1" dirty="0"/>
          </a:p>
          <a:p>
            <a:r>
              <a:rPr lang="zh-CN" altLang="en-US" sz="3200" dirty="0"/>
              <a:t>基于</a:t>
            </a:r>
            <a:r>
              <a:rPr lang="en-GB" altLang="zh-CN" sz="3200" b="1" dirty="0"/>
              <a:t>Python Flask</a:t>
            </a:r>
            <a:r>
              <a:rPr lang="zh-CN" altLang="en-US" sz="3200" dirty="0"/>
              <a:t>框架开发</a:t>
            </a:r>
            <a:endParaRPr lang="en-US" altLang="zh-CN" sz="3200" b="1" dirty="0"/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用户管理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商品上架 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浏览 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收藏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评论与私信功能</a:t>
            </a:r>
          </a:p>
          <a:p>
            <a:endParaRPr lang="zh-CN" altLang="en-US" dirty="0"/>
          </a:p>
          <a:p>
            <a:r>
              <a:rPr lang="zh-CN" altLang="en-US" sz="3200" b="1" dirty="0"/>
              <a:t>数据层</a:t>
            </a:r>
            <a:endParaRPr lang="en-US" altLang="zh-CN" sz="3200" b="1" dirty="0"/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存储平台核心数据</a:t>
            </a: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包括用户信息、商品信息、收藏夹、评论和聊天记录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r>
              <a:rPr lang="en-US" altLang="zh-CN" sz="2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语句进行数据库操作</a:t>
            </a:r>
          </a:p>
        </p:txBody>
      </p:sp>
    </p:spTree>
    <p:extLst>
      <p:ext uri="{BB962C8B-B14F-4D97-AF65-F5344CB8AC3E}">
        <p14:creationId xmlns:p14="http://schemas.microsoft.com/office/powerpoint/2010/main" val="2118244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77031-14BB-2FA0-8611-CEE9D477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BEA898-C725-43CE-CD6C-46F33E753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2B71871-D477-C43B-83F8-A742D9135BAA}"/>
              </a:ext>
            </a:extLst>
          </p:cNvPr>
          <p:cNvSpPr txBox="1"/>
          <p:nvPr/>
        </p:nvSpPr>
        <p:spPr>
          <a:xfrm>
            <a:off x="916020" y="1690688"/>
            <a:ext cx="380376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登录</a:t>
            </a:r>
            <a:r>
              <a:rPr lang="zh-CN" altLang="en-US" sz="2400" dirty="0"/>
              <a:t> ：用户输入用户名和密码登录</a:t>
            </a:r>
            <a:endParaRPr lang="en-US" altLang="zh-CN" sz="2400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sz="2400" b="1" dirty="0"/>
              <a:t>注册</a:t>
            </a:r>
            <a:r>
              <a:rPr lang="zh-CN" altLang="en-US" sz="2400" dirty="0"/>
              <a:t>：用户输入用户名和密码登录</a:t>
            </a:r>
            <a:endParaRPr lang="en-US" altLang="zh-CN" sz="2400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sz="2400" b="1" dirty="0"/>
              <a:t>个人资料设置</a:t>
            </a:r>
            <a:r>
              <a:rPr lang="zh-CN" altLang="en-US" sz="2400" dirty="0"/>
              <a:t>：自由设置自己的个人资料</a:t>
            </a:r>
            <a:endParaRPr lang="en-US" altLang="zh-CN" sz="2400" dirty="0"/>
          </a:p>
          <a:p>
            <a:endParaRPr lang="zh-CN" altLang="en-US" dirty="0"/>
          </a:p>
        </p:txBody>
      </p:sp>
      <p:pic>
        <p:nvPicPr>
          <p:cNvPr id="8" name="图片 7" descr="图形用户界面, 应用程序, 网站&#10;&#10;AI 生成的内容可能不正确。">
            <a:extLst>
              <a:ext uri="{FF2B5EF4-FFF2-40B4-BE49-F238E27FC236}">
                <a16:creationId xmlns:a16="http://schemas.microsoft.com/office/drawing/2014/main" id="{DF1A39B8-8D93-496E-47DA-DA2BB2FEF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311" y="103868"/>
            <a:ext cx="6353668" cy="3401649"/>
          </a:xfrm>
          <a:prstGeom prst="rect">
            <a:avLst/>
          </a:prstGeom>
        </p:spPr>
      </p:pic>
      <p:pic>
        <p:nvPicPr>
          <p:cNvPr id="18" name="图片 17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3635B824-4844-DE37-3A78-3E5B18E24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003" y="3874370"/>
            <a:ext cx="6395876" cy="287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356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8D6AF-D0A4-BB8D-9972-518EBDDD1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C499CE-1983-1FD6-C6D7-D2895C8BD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0AD4CDF-44D6-21F2-E503-465B9FA9584C}"/>
              </a:ext>
            </a:extLst>
          </p:cNvPr>
          <p:cNvSpPr txBox="1"/>
          <p:nvPr/>
        </p:nvSpPr>
        <p:spPr>
          <a:xfrm>
            <a:off x="838200" y="1690688"/>
            <a:ext cx="26540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主页：</a:t>
            </a:r>
            <a:r>
              <a:rPr lang="zh-CN" altLang="en-US" sz="2400" dirty="0"/>
              <a:t>用户可以在此浏览所有商品和操作自己发布的商品</a:t>
            </a:r>
          </a:p>
        </p:txBody>
      </p:sp>
      <p:pic>
        <p:nvPicPr>
          <p:cNvPr id="5" name="图片 4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F0038735-C559-6464-6FB6-C89FE5A9D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230" y="1186774"/>
            <a:ext cx="8365271" cy="475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309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1D8FF-E3E8-6FC0-2EA5-823FD705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8B0BB2-B15A-053E-A171-BCACCF8BC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A7F50B6-908B-95EF-8F58-3235F7E19800}"/>
              </a:ext>
            </a:extLst>
          </p:cNvPr>
          <p:cNvSpPr txBox="1"/>
          <p:nvPr/>
        </p:nvSpPr>
        <p:spPr>
          <a:xfrm>
            <a:off x="838199" y="1690688"/>
            <a:ext cx="30877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商品发布和修改：</a:t>
            </a:r>
            <a:r>
              <a:rPr lang="zh-CN" altLang="en-US" sz="2400" dirty="0"/>
              <a:t>用户可以在此填写商品信息，上传图片等等</a:t>
            </a:r>
          </a:p>
        </p:txBody>
      </p:sp>
      <p:pic>
        <p:nvPicPr>
          <p:cNvPr id="6" name="图片 5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B62DDF55-5DD8-E33D-A80D-F220CB44B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022" y="398690"/>
            <a:ext cx="5449251" cy="620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34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0BEB4-175A-63E0-0691-998DBA05F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96A3BF-E0A1-5FD1-424B-EEEEDC0FB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E915564-BB57-C1B3-92C9-D0A4C74268FE}"/>
              </a:ext>
            </a:extLst>
          </p:cNvPr>
          <p:cNvSpPr txBox="1"/>
          <p:nvPr/>
        </p:nvSpPr>
        <p:spPr>
          <a:xfrm>
            <a:off x="838200" y="1690688"/>
            <a:ext cx="26540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商品详情： </a:t>
            </a:r>
            <a:r>
              <a:rPr lang="zh-CN" altLang="en-US" sz="2400" dirty="0"/>
              <a:t>用户可以查看商品详情并评论</a:t>
            </a:r>
          </a:p>
        </p:txBody>
      </p:sp>
      <p:pic>
        <p:nvPicPr>
          <p:cNvPr id="8" name="图片 7" descr="图形用户界面&#10;&#10;AI 生成的内容可能不正确。">
            <a:extLst>
              <a:ext uri="{FF2B5EF4-FFF2-40B4-BE49-F238E27FC236}">
                <a16:creationId xmlns:a16="http://schemas.microsoft.com/office/drawing/2014/main" id="{B3F2E33B-E9AC-4552-1540-0A46026B7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148" y="98530"/>
            <a:ext cx="8220259" cy="6660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398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D0888-6A00-A6C2-DE73-258740DE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456B2E-B0A1-E5FC-8B49-E1D28986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C1ABD2B-1D78-B483-994A-1A5FA88803E8}"/>
              </a:ext>
            </a:extLst>
          </p:cNvPr>
          <p:cNvSpPr txBox="1"/>
          <p:nvPr/>
        </p:nvSpPr>
        <p:spPr>
          <a:xfrm>
            <a:off x="838200" y="1690688"/>
            <a:ext cx="26540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私信：</a:t>
            </a:r>
            <a:r>
              <a:rPr lang="zh-CN" altLang="en-US" sz="2400" dirty="0"/>
              <a:t>用户可以与买家进行一对一交流</a:t>
            </a:r>
          </a:p>
        </p:txBody>
      </p:sp>
      <p:pic>
        <p:nvPicPr>
          <p:cNvPr id="4" name="图片 3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5631D794-A1D1-0048-B916-E93D83FE4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230" y="640101"/>
            <a:ext cx="8562468" cy="531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04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F498-CA87-DDE0-9AF2-1AD64A8C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AA79D6-192F-8767-0A35-FF1EDAEB7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94687E5-E588-3F69-D07F-0159DBB942BC}"/>
              </a:ext>
            </a:extLst>
          </p:cNvPr>
          <p:cNvSpPr txBox="1"/>
          <p:nvPr/>
        </p:nvSpPr>
        <p:spPr>
          <a:xfrm>
            <a:off x="838200" y="1690688"/>
            <a:ext cx="26540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收藏夹：</a:t>
            </a:r>
            <a:r>
              <a:rPr lang="zh-CN" altLang="en-US" sz="2400" dirty="0"/>
              <a:t>用户可以查看和管理收藏夹与收藏的物品</a:t>
            </a:r>
          </a:p>
        </p:txBody>
      </p:sp>
      <p:pic>
        <p:nvPicPr>
          <p:cNvPr id="6" name="图片 5" descr="图片包含 应用程序&#10;&#10;AI 生成的内容可能不正确。">
            <a:extLst>
              <a:ext uri="{FF2B5EF4-FFF2-40B4-BE49-F238E27FC236}">
                <a16:creationId xmlns:a16="http://schemas.microsoft.com/office/drawing/2014/main" id="{B6B4008E-160D-C819-B376-E1229C361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551" y="1021405"/>
            <a:ext cx="8219806" cy="442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06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DFB5F-CB6E-1820-65F9-BAA3FBB5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A5169B-7365-35C0-7251-2E1174B14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D39A9E-DD71-5215-3223-9DFD044C22F4}"/>
              </a:ext>
            </a:extLst>
          </p:cNvPr>
          <p:cNvSpPr txBox="1"/>
          <p:nvPr/>
        </p:nvSpPr>
        <p:spPr>
          <a:xfrm>
            <a:off x="838200" y="1930314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/>
              <a:t>订单：</a:t>
            </a:r>
            <a:r>
              <a:rPr lang="zh-CN" altLang="en-US" sz="2400" dirty="0"/>
              <a:t>用户可以查看自己买过的商品订单</a:t>
            </a:r>
            <a:endParaRPr lang="en-US" altLang="zh-CN" sz="2400" dirty="0"/>
          </a:p>
        </p:txBody>
      </p:sp>
      <p:pic>
        <p:nvPicPr>
          <p:cNvPr id="8" name="图片 7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65D5F71A-72AF-1ED8-671B-E32C2C69A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214" y="1418291"/>
            <a:ext cx="6903720" cy="402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879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C62E1-B966-956B-51FB-70B19D5D1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E724F0-0590-5327-49B3-98ECA4827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0137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</a:p>
        </p:txBody>
      </p:sp>
      <p:pic>
        <p:nvPicPr>
          <p:cNvPr id="4" name="图片 3" descr="图片包含 文本&#10;&#10;AI 生成的内容可能不正确。">
            <a:extLst>
              <a:ext uri="{FF2B5EF4-FFF2-40B4-BE49-F238E27FC236}">
                <a16:creationId xmlns:a16="http://schemas.microsoft.com/office/drawing/2014/main" id="{1257186E-DD65-0E56-E13E-15448B30E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896573"/>
            <a:ext cx="3029096" cy="454364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A18D050-15AC-4349-701A-53CB75F1917E}"/>
              </a:ext>
            </a:extLst>
          </p:cNvPr>
          <p:cNvSpPr txBox="1"/>
          <p:nvPr/>
        </p:nvSpPr>
        <p:spPr>
          <a:xfrm>
            <a:off x="838200" y="1930314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/>
              <a:t>整体架构</a:t>
            </a:r>
            <a:endParaRPr lang="en-US" altLang="zh-CN" sz="24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0B32766-F696-E743-AEE8-6700310F5B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C2B9CDB-B1E1-83C2-412D-22FA054C2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796" y="896573"/>
            <a:ext cx="5627964" cy="4820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002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D17B0-A7A3-0CF8-1B19-AB166CBE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84331B-AC16-C5DB-37AD-D8E281730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0137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E03755-A5E7-7A2E-CD45-E16CF8C110D7}"/>
              </a:ext>
            </a:extLst>
          </p:cNvPr>
          <p:cNvSpPr txBox="1"/>
          <p:nvPr/>
        </p:nvSpPr>
        <p:spPr>
          <a:xfrm>
            <a:off x="838200" y="1930314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/>
              <a:t>核心功能的实现：购买商品</a:t>
            </a:r>
            <a:endParaRPr lang="en-US" altLang="zh-CN" sz="24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0FFA61E-178D-6380-6A2F-18188BB247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4" name="图片 13" descr="文本&#10;&#10;AI 生成的内容可能不正确。">
            <a:extLst>
              <a:ext uri="{FF2B5EF4-FFF2-40B4-BE49-F238E27FC236}">
                <a16:creationId xmlns:a16="http://schemas.microsoft.com/office/drawing/2014/main" id="{8E578C22-E955-24E2-2C3D-49702825B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577" y="83127"/>
            <a:ext cx="5590291" cy="653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15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116D6-DF48-D0F7-F90D-5ABE700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BDA0D9-744E-4DED-BAB4-5A872596C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0137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CD2D592-B0C1-BEEF-D243-1372E2A9E59F}"/>
              </a:ext>
            </a:extLst>
          </p:cNvPr>
          <p:cNvSpPr txBox="1"/>
          <p:nvPr/>
        </p:nvSpPr>
        <p:spPr>
          <a:xfrm>
            <a:off x="838200" y="1930314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/>
              <a:t>核心功能的实现：搜索商品</a:t>
            </a:r>
            <a:endParaRPr lang="en-US" altLang="zh-CN" sz="24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8C472772-E0E5-A38A-73FD-8EC505352B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6" name="图片 5" descr="文本&#10;&#10;AI 生成的内容可能不正确。">
            <a:extLst>
              <a:ext uri="{FF2B5EF4-FFF2-40B4-BE49-F238E27FC236}">
                <a16:creationId xmlns:a16="http://schemas.microsoft.com/office/drawing/2014/main" id="{E64FEFE1-B450-56E9-BBD7-9BA40D379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965" y="0"/>
            <a:ext cx="55378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456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0A24B-B23F-EC92-2AD9-532490223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E6DE87-8A58-41D8-DFE1-5C143297C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0137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C84B181-5A59-F579-B0F6-0FAB71E9D11D}"/>
              </a:ext>
            </a:extLst>
          </p:cNvPr>
          <p:cNvSpPr txBox="1"/>
          <p:nvPr/>
        </p:nvSpPr>
        <p:spPr>
          <a:xfrm>
            <a:off x="838200" y="1930314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/>
              <a:t>核心功能的实现：加载消息</a:t>
            </a:r>
            <a:endParaRPr lang="en-US" altLang="zh-CN" sz="24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1F86B37-4A71-1482-3C43-1CFB788332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4" name="图片 3" descr="文本&#10;&#10;AI 生成的内容可能不正确。">
            <a:extLst>
              <a:ext uri="{FF2B5EF4-FFF2-40B4-BE49-F238E27FC236}">
                <a16:creationId xmlns:a16="http://schemas.microsoft.com/office/drawing/2014/main" id="{B0E92CC4-5CFD-34CD-F850-358E22251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377" y="537737"/>
            <a:ext cx="664937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83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4F595-4430-96B3-A360-68F6F7CDD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A8A505-E4F3-F1C2-12BF-C0DC1AF09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0137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364539D-D07B-F192-0E14-2F69B29D52D6}"/>
              </a:ext>
            </a:extLst>
          </p:cNvPr>
          <p:cNvSpPr txBox="1"/>
          <p:nvPr/>
        </p:nvSpPr>
        <p:spPr>
          <a:xfrm>
            <a:off x="838200" y="1930314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/>
              <a:t>触发器的实现</a:t>
            </a:r>
            <a:endParaRPr lang="en-US" altLang="zh-CN" sz="24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427B5AB4-1C93-C812-CC01-DA0E0538D4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D7CCC209-0921-C529-85C1-1D559BB0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006" y="1323011"/>
            <a:ext cx="5462323" cy="1835979"/>
          </a:xfrm>
          <a:prstGeom prst="rect">
            <a:avLst/>
          </a:prstGeom>
        </p:spPr>
      </p:pic>
      <p:pic>
        <p:nvPicPr>
          <p:cNvPr id="9" name="图片 8" descr="文本&#10;&#10;AI 生成的内容可能不正确。">
            <a:extLst>
              <a:ext uri="{FF2B5EF4-FFF2-40B4-BE49-F238E27FC236}">
                <a16:creationId xmlns:a16="http://schemas.microsoft.com/office/drawing/2014/main" id="{6A18D694-71F7-743F-47D5-E0882EBA2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006" y="3276600"/>
            <a:ext cx="4784612" cy="148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7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/>
          <p:cNvSpPr/>
          <p:nvPr/>
        </p:nvSpPr>
        <p:spPr>
          <a:xfrm>
            <a:off x="0" y="1728056"/>
            <a:ext cx="12192000" cy="35551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  <p:sp>
        <p:nvSpPr>
          <p:cNvPr id="43" name="矩形 42"/>
          <p:cNvSpPr/>
          <p:nvPr/>
        </p:nvSpPr>
        <p:spPr bwMode="auto">
          <a:xfrm>
            <a:off x="4821249" y="2961310"/>
            <a:ext cx="264687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4800" b="1" kern="1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  <a:cs typeface="Times New Roman" panose="02020603050405020304" pitchFamily="18" charset="0"/>
                <a:sym typeface="思源黑体" panose="020B0500000000000000" pitchFamily="34" charset="-122"/>
              </a:rPr>
              <a:t>感谢聆听</a:t>
            </a:r>
          </a:p>
        </p:txBody>
      </p:sp>
      <p:sp>
        <p:nvSpPr>
          <p:cNvPr id="44" name="矩形 43"/>
          <p:cNvSpPr/>
          <p:nvPr/>
        </p:nvSpPr>
        <p:spPr>
          <a:xfrm>
            <a:off x="3004292" y="3840337"/>
            <a:ext cx="618341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spc="8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  <a:sym typeface="思源黑体" panose="020B0500000000000000" pitchFamily="34" charset="-122"/>
              </a:rPr>
              <a:t>THANK YOU FOR WATCHING</a:t>
            </a:r>
          </a:p>
        </p:txBody>
      </p:sp>
      <p:cxnSp>
        <p:nvCxnSpPr>
          <p:cNvPr id="48" name="直接连接符 47"/>
          <p:cNvCxnSpPr/>
          <p:nvPr/>
        </p:nvCxnSpPr>
        <p:spPr>
          <a:xfrm>
            <a:off x="5973826" y="4548536"/>
            <a:ext cx="348343" cy="0"/>
          </a:xfrm>
          <a:prstGeom prst="line">
            <a:avLst/>
          </a:prstGeom>
          <a:ln w="19050">
            <a:solidFill>
              <a:srgbClr val="2932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/>
          <p:cNvSpPr/>
          <p:nvPr/>
        </p:nvSpPr>
        <p:spPr>
          <a:xfrm>
            <a:off x="5180857" y="786474"/>
            <a:ext cx="1927655" cy="1927655"/>
          </a:xfrm>
          <a:prstGeom prst="ellipse">
            <a:avLst/>
          </a:prstGeom>
          <a:solidFill>
            <a:schemeClr val="accent1"/>
          </a:solidFill>
          <a:ln w="57150">
            <a:solidFill>
              <a:srgbClr val="F8F8F9"/>
            </a:solidFill>
          </a:ln>
          <a:effectLst>
            <a:outerShdw blurRad="101600" dist="1016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  <p:sp>
        <p:nvSpPr>
          <p:cNvPr id="57" name="medal-of-award_49824"/>
          <p:cNvSpPr>
            <a:spLocks noChangeAspect="1"/>
          </p:cNvSpPr>
          <p:nvPr/>
        </p:nvSpPr>
        <p:spPr bwMode="auto">
          <a:xfrm>
            <a:off x="5420035" y="1351280"/>
            <a:ext cx="1473851" cy="854141"/>
          </a:xfrm>
          <a:custGeom>
            <a:avLst/>
            <a:gdLst>
              <a:gd name="connsiteX0" fmla="*/ 104550 w 604718"/>
              <a:gd name="connsiteY0" fmla="*/ 208330 h 382112"/>
              <a:gd name="connsiteX1" fmla="*/ 156180 w 604718"/>
              <a:gd name="connsiteY1" fmla="*/ 208330 h 382112"/>
              <a:gd name="connsiteX2" fmla="*/ 261642 w 604718"/>
              <a:gd name="connsiteY2" fmla="*/ 248878 h 382112"/>
              <a:gd name="connsiteX3" fmla="*/ 298947 w 604718"/>
              <a:gd name="connsiteY3" fmla="*/ 255007 h 382112"/>
              <a:gd name="connsiteX4" fmla="*/ 340187 w 604718"/>
              <a:gd name="connsiteY4" fmla="*/ 247621 h 382112"/>
              <a:gd name="connsiteX5" fmla="*/ 433687 w 604718"/>
              <a:gd name="connsiteY5" fmla="*/ 208330 h 382112"/>
              <a:gd name="connsiteX6" fmla="*/ 490825 w 604718"/>
              <a:gd name="connsiteY6" fmla="*/ 208330 h 382112"/>
              <a:gd name="connsiteX7" fmla="*/ 490825 w 604718"/>
              <a:gd name="connsiteY7" fmla="*/ 271509 h 382112"/>
              <a:gd name="connsiteX8" fmla="*/ 458400 w 604718"/>
              <a:gd name="connsiteY8" fmla="*/ 320701 h 382112"/>
              <a:gd name="connsiteX9" fmla="*/ 329326 w 604718"/>
              <a:gd name="connsiteY9" fmla="*/ 376337 h 382112"/>
              <a:gd name="connsiteX10" fmla="*/ 264632 w 604718"/>
              <a:gd name="connsiteY10" fmla="*/ 376337 h 382112"/>
              <a:gd name="connsiteX11" fmla="*/ 136819 w 604718"/>
              <a:gd name="connsiteY11" fmla="*/ 320701 h 382112"/>
              <a:gd name="connsiteX12" fmla="*/ 104550 w 604718"/>
              <a:gd name="connsiteY12" fmla="*/ 271509 h 382112"/>
              <a:gd name="connsiteX13" fmla="*/ 300973 w 604718"/>
              <a:gd name="connsiteY13" fmla="*/ 5 h 382112"/>
              <a:gd name="connsiteX14" fmla="*/ 334162 w 604718"/>
              <a:gd name="connsiteY14" fmla="*/ 4701 h 382112"/>
              <a:gd name="connsiteX15" fmla="*/ 581267 w 604718"/>
              <a:gd name="connsiteY15" fmla="*/ 92552 h 382112"/>
              <a:gd name="connsiteX16" fmla="*/ 588822 w 604718"/>
              <a:gd name="connsiteY16" fmla="*/ 114398 h 382112"/>
              <a:gd name="connsiteX17" fmla="*/ 589136 w 604718"/>
              <a:gd name="connsiteY17" fmla="*/ 114398 h 382112"/>
              <a:gd name="connsiteX18" fmla="*/ 589136 w 604718"/>
              <a:gd name="connsiteY18" fmla="*/ 270771 h 382112"/>
              <a:gd name="connsiteX19" fmla="*/ 604718 w 604718"/>
              <a:gd name="connsiteY19" fmla="*/ 321376 h 382112"/>
              <a:gd name="connsiteX20" fmla="*/ 561278 w 604718"/>
              <a:gd name="connsiteY20" fmla="*/ 321376 h 382112"/>
              <a:gd name="connsiteX21" fmla="*/ 576388 w 604718"/>
              <a:gd name="connsiteY21" fmla="*/ 271242 h 382112"/>
              <a:gd name="connsiteX22" fmla="*/ 576388 w 604718"/>
              <a:gd name="connsiteY22" fmla="*/ 120370 h 382112"/>
              <a:gd name="connsiteX23" fmla="*/ 333376 w 604718"/>
              <a:gd name="connsiteY23" fmla="*/ 222680 h 382112"/>
              <a:gd name="connsiteX24" fmla="*/ 268058 w 604718"/>
              <a:gd name="connsiteY24" fmla="*/ 223780 h 382112"/>
              <a:gd name="connsiteX25" fmla="*/ 13556 w 604718"/>
              <a:gd name="connsiteY25" fmla="*/ 125870 h 382112"/>
              <a:gd name="connsiteX26" fmla="*/ 13714 w 604718"/>
              <a:gd name="connsiteY26" fmla="*/ 100882 h 382112"/>
              <a:gd name="connsiteX27" fmla="*/ 267901 w 604718"/>
              <a:gd name="connsiteY27" fmla="*/ 5329 h 382112"/>
              <a:gd name="connsiteX28" fmla="*/ 300973 w 604718"/>
              <a:gd name="connsiteY28" fmla="*/ 5 h 382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4718" h="382112">
                <a:moveTo>
                  <a:pt x="104550" y="208330"/>
                </a:moveTo>
                <a:lnTo>
                  <a:pt x="156180" y="208330"/>
                </a:lnTo>
                <a:lnTo>
                  <a:pt x="261642" y="248878"/>
                </a:lnTo>
                <a:cubicBezTo>
                  <a:pt x="274864" y="253907"/>
                  <a:pt x="289188" y="255007"/>
                  <a:pt x="298947" y="255007"/>
                </a:cubicBezTo>
                <a:cubicBezTo>
                  <a:pt x="314373" y="255007"/>
                  <a:pt x="329012" y="252493"/>
                  <a:pt x="340187" y="247621"/>
                </a:cubicBezTo>
                <a:lnTo>
                  <a:pt x="433687" y="208330"/>
                </a:lnTo>
                <a:lnTo>
                  <a:pt x="490825" y="208330"/>
                </a:lnTo>
                <a:lnTo>
                  <a:pt x="490825" y="271509"/>
                </a:lnTo>
                <a:cubicBezTo>
                  <a:pt x="490825" y="290998"/>
                  <a:pt x="476344" y="313000"/>
                  <a:pt x="458400" y="320701"/>
                </a:cubicBezTo>
                <a:lnTo>
                  <a:pt x="329326" y="376337"/>
                </a:lnTo>
                <a:cubicBezTo>
                  <a:pt x="311382" y="384038"/>
                  <a:pt x="282419" y="384038"/>
                  <a:pt x="264632" y="376337"/>
                </a:cubicBezTo>
                <a:lnTo>
                  <a:pt x="136819" y="320701"/>
                </a:lnTo>
                <a:cubicBezTo>
                  <a:pt x="119032" y="313000"/>
                  <a:pt x="104550" y="290998"/>
                  <a:pt x="104550" y="271509"/>
                </a:cubicBezTo>
                <a:close/>
                <a:moveTo>
                  <a:pt x="300973" y="5"/>
                </a:moveTo>
                <a:cubicBezTo>
                  <a:pt x="312954" y="-93"/>
                  <a:pt x="324955" y="1479"/>
                  <a:pt x="334162" y="4701"/>
                </a:cubicBezTo>
                <a:lnTo>
                  <a:pt x="581267" y="92552"/>
                </a:lnTo>
                <a:cubicBezTo>
                  <a:pt x="596849" y="98053"/>
                  <a:pt x="599210" y="107168"/>
                  <a:pt x="588822" y="114398"/>
                </a:cubicBezTo>
                <a:lnTo>
                  <a:pt x="589136" y="114398"/>
                </a:lnTo>
                <a:lnTo>
                  <a:pt x="589136" y="270771"/>
                </a:lnTo>
                <a:lnTo>
                  <a:pt x="604718" y="321376"/>
                </a:lnTo>
                <a:lnTo>
                  <a:pt x="561278" y="321376"/>
                </a:lnTo>
                <a:lnTo>
                  <a:pt x="576388" y="271242"/>
                </a:lnTo>
                <a:lnTo>
                  <a:pt x="576388" y="120370"/>
                </a:lnTo>
                <a:lnTo>
                  <a:pt x="333376" y="222680"/>
                </a:lnTo>
                <a:cubicBezTo>
                  <a:pt x="315433" y="230224"/>
                  <a:pt x="286158" y="230695"/>
                  <a:pt x="268058" y="223780"/>
                </a:cubicBezTo>
                <a:lnTo>
                  <a:pt x="13556" y="125870"/>
                </a:lnTo>
                <a:cubicBezTo>
                  <a:pt x="-4544" y="118798"/>
                  <a:pt x="-4544" y="107640"/>
                  <a:pt x="13714" y="100882"/>
                </a:cubicBezTo>
                <a:lnTo>
                  <a:pt x="267901" y="5329"/>
                </a:lnTo>
                <a:cubicBezTo>
                  <a:pt x="277030" y="1872"/>
                  <a:pt x="288991" y="104"/>
                  <a:pt x="300973" y="5"/>
                </a:cubicBezTo>
                <a:close/>
              </a:path>
            </a:pathLst>
          </a:custGeom>
          <a:solidFill>
            <a:schemeClr val="bg1"/>
          </a:solidFill>
          <a:ln w="31750"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9170">
              <a:defRPr/>
            </a:pPr>
            <a:endParaRPr lang="zh-CN" altLang="en-US" sz="2400">
              <a:solidFill>
                <a:srgbClr val="30A081"/>
              </a:solidFill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352</Words>
  <Application>Microsoft Office PowerPoint</Application>
  <PresentationFormat>宽屏</PresentationFormat>
  <Paragraphs>77</Paragraphs>
  <Slides>20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6" baseType="lpstr">
      <vt:lpstr>等线 Light</vt:lpstr>
      <vt:lpstr>思源黑体</vt:lpstr>
      <vt:lpstr>Arial</vt:lpstr>
      <vt:lpstr>等线</vt:lpstr>
      <vt:lpstr>微软雅黑</vt:lpstr>
      <vt:lpstr>Office 主题​​</vt:lpstr>
      <vt:lpstr>PowerPoint 演示文稿</vt:lpstr>
      <vt:lpstr>分工与工作量</vt:lpstr>
      <vt:lpstr>数据库设计</vt:lpstr>
      <vt:lpstr>数据库设计</vt:lpstr>
      <vt:lpstr>数据库设计</vt:lpstr>
      <vt:lpstr>数据库设计</vt:lpstr>
      <vt:lpstr>系统架构</vt:lpstr>
      <vt:lpstr>前端</vt:lpstr>
      <vt:lpstr>前端</vt:lpstr>
      <vt:lpstr>前端</vt:lpstr>
      <vt:lpstr>前端</vt:lpstr>
      <vt:lpstr>前端</vt:lpstr>
      <vt:lpstr>前端</vt:lpstr>
      <vt:lpstr>前端</vt:lpstr>
      <vt:lpstr>后端</vt:lpstr>
      <vt:lpstr>后端</vt:lpstr>
      <vt:lpstr>后端</vt:lpstr>
      <vt:lpstr>后端</vt:lpstr>
      <vt:lpstr>后端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佳思 华</dc:creator>
  <cp:lastModifiedBy>宇博 王</cp:lastModifiedBy>
  <cp:revision>3</cp:revision>
  <dcterms:created xsi:type="dcterms:W3CDTF">2025-12-24T10:38:53Z</dcterms:created>
  <dcterms:modified xsi:type="dcterms:W3CDTF">2025-12-24T12:36:38Z</dcterms:modified>
</cp:coreProperties>
</file>