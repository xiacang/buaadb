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7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57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650B36-3F56-4D4A-B2D6-3FDE8F3A4FC2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B7D7D4-12ED-43BE-91E1-458103252F4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331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9A376-A58E-FC1B-4717-21624DDBF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518C294-B831-D543-1402-ACE0E83EF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DF1B2F-0D4F-604D-CBD3-8ADE895102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CBFA8D-DBD5-C34D-970C-3B61547AF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B7D7D4-12ED-43BE-91E1-458103252F4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6190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B7D7D4-12ED-43BE-91E1-458103252F4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5459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lnSpc>
                <a:spcPct val="114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41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885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422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819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349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615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636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45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698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415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80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lIns="109728" tIns="109728" rIns="109728" bIns="91440"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10/28/2025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16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1" r:id="rId6"/>
    <p:sldLayoutId id="2147483737" r:id="rId7"/>
    <p:sldLayoutId id="2147483738" r:id="rId8"/>
    <p:sldLayoutId id="2147483739" r:id="rId9"/>
    <p:sldLayoutId id="2147483740" r:id="rId10"/>
    <p:sldLayoutId id="2147483742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 spc="13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 spc="8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 spc="8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 spc="8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 spc="8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 spc="8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BA6285CA-6AFA-4F27-AFB5-1B32CDE09B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DBF4C08-1E63-4DF5-8493-1C3BBDCA3B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B0172335-C8F3-4867-9911-2F5BD212C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7BDAF4F-CC6E-411F-A8CD-919C9BF08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DA124D5-EC6C-40E8-A453-8021DEF63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CC7C4E89-FF36-4C86-8662-1B0DE7F21A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728F9F7-96C0-40B6-8FEC-1204F7E57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BF2264B-0EBB-4AE9-B192-C49A5163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80A4381-2144-4FCB-95A1-1538834F48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0FDAAE2-E1A2-4517-838D-DB7B1BE30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7BBB666-4FE4-459B-AA22-99776D6B0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8E23CB0F-9564-4C2B-8847-CECC117187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A06EBC9-FF83-480F-BAFC-F11C07A109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0B19B23-13F1-4B16-9E14-7C8A6CD4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5E4C9EBB-4687-4958-B779-A7E68209D7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3686F2B-B045-40CC-B434-69B83AA197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64C71E8-FEA3-4F9B-AC53-A8374AA97E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5743F8F-79CE-483D-884E-4737026CE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5687DE6-BF15-4C4D-A34A-43FE9DF28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0C30A15-74C6-479D-9415-BD3A15509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F39D2221-2473-4D0C-867E-15E42CEDA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37B0AC9-52B2-49AE-B9F4-5130967F95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DA4F0D5-4E38-4439-957C-14C7B2C44B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31DB7A2-5177-4E09-ACE9-15F56E7A0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BF7AF76B-566E-437B-9B3D-C6061B7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80CCD94C-5468-4E4D-83E1-087C30B101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7DE3320-D7F0-4B34-979B-D695DA2634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961C1D5-CC28-4E56-8667-F195AC96C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F8B42B07-3D51-413F-9B94-05C7689829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4D497D7-863D-4842-99B7-A1B3711A97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9017E5D-F3C5-4CE7-B844-A566DFB81B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24CC2EB5-F3D5-40B2-B140-F5A643C3A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C7D98B-0230-4C73-9AFC-BF783AAC5C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5F21B5C0-26CB-3C22-5C14-4F81625C76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775" y="1122363"/>
            <a:ext cx="9807425" cy="2306634"/>
          </a:xfrm>
        </p:spPr>
        <p:txBody>
          <a:bodyPr>
            <a:normAutofit/>
          </a:bodyPr>
          <a:lstStyle/>
          <a:p>
            <a:pPr algn="ctr"/>
            <a:r>
              <a:rPr lang="en-US" altLang="zh-CN" dirty="0" err="1"/>
              <a:t>TradeHub</a:t>
            </a:r>
            <a:r>
              <a:rPr lang="en-US" altLang="zh-CN" dirty="0"/>
              <a:t> – </a:t>
            </a:r>
            <a:r>
              <a:rPr lang="zh-CN" altLang="en-US" dirty="0"/>
              <a:t>二手交易平台</a:t>
            </a:r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9559B05-1E11-9B9E-55F6-85B7889583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59315" y="3712684"/>
            <a:ext cx="7847491" cy="1834555"/>
          </a:xfrm>
        </p:spPr>
        <p:txBody>
          <a:bodyPr>
            <a:normAutofit/>
          </a:bodyPr>
          <a:lstStyle/>
          <a:p>
            <a:pPr algn="ctr"/>
            <a:r>
              <a:rPr lang="zh-CN" altLang="en-US"/>
              <a:t>华家璇 </a:t>
            </a:r>
            <a:r>
              <a:rPr lang="en-US" altLang="zh-CN"/>
              <a:t>2025</a:t>
            </a:r>
            <a:r>
              <a:rPr lang="zh-CN" altLang="en-US"/>
              <a:t>年</a:t>
            </a:r>
            <a:r>
              <a:rPr lang="en-US" altLang="zh-CN"/>
              <a:t>10</a:t>
            </a:r>
            <a:r>
              <a:rPr lang="zh-CN" altLang="en-US"/>
              <a:t>月</a:t>
            </a:r>
            <a:r>
              <a:rPr lang="en-US" altLang="zh-CN"/>
              <a:t>30</a:t>
            </a:r>
            <a:r>
              <a:rPr lang="zh-CN" altLang="en-US"/>
              <a:t>日</a:t>
            </a:r>
          </a:p>
        </p:txBody>
      </p:sp>
      <p:sp>
        <p:nvSpPr>
          <p:cNvPr id="88" name="Right Triangle 87">
            <a:extLst>
              <a:ext uri="{FF2B5EF4-FFF2-40B4-BE49-F238E27FC236}">
                <a16:creationId xmlns:a16="http://schemas.microsoft.com/office/drawing/2014/main" id="{1B82D339-163C-4586-A620-52BB056E6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5814053" y="-285756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0647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D2B4DF-6A34-92C4-5D46-B74E71AD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927" y="825037"/>
            <a:ext cx="10325000" cy="1442463"/>
          </a:xfrm>
        </p:spPr>
        <p:txBody>
          <a:bodyPr/>
          <a:lstStyle/>
          <a:p>
            <a:r>
              <a:rPr lang="zh-CN" altLang="en-US" dirty="0"/>
              <a:t>系统设计 </a:t>
            </a:r>
            <a:r>
              <a:rPr lang="en-US" altLang="zh-CN" dirty="0"/>
              <a:t>– </a:t>
            </a:r>
            <a:r>
              <a:rPr lang="zh-CN" altLang="en-US" dirty="0"/>
              <a:t>数据库架构</a:t>
            </a:r>
          </a:p>
        </p:txBody>
      </p:sp>
      <p:pic>
        <p:nvPicPr>
          <p:cNvPr id="5" name="内容占位符 4" descr="图示&#10;&#10;AI 生成的内容可能不正确。">
            <a:extLst>
              <a:ext uri="{FF2B5EF4-FFF2-40B4-BE49-F238E27FC236}">
                <a16:creationId xmlns:a16="http://schemas.microsoft.com/office/drawing/2014/main" id="{25F67B7A-D23C-0EB8-47E4-D74D7C5C64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7692" y="1659603"/>
            <a:ext cx="4714381" cy="4840434"/>
          </a:xfrm>
        </p:spPr>
      </p:pic>
      <p:sp>
        <p:nvSpPr>
          <p:cNvPr id="8" name="内容占位符 2">
            <a:extLst>
              <a:ext uri="{FF2B5EF4-FFF2-40B4-BE49-F238E27FC236}">
                <a16:creationId xmlns:a16="http://schemas.microsoft.com/office/drawing/2014/main" id="{ABBE5C29-0CAA-2F38-5267-FC8CCE77B9F9}"/>
              </a:ext>
            </a:extLst>
          </p:cNvPr>
          <p:cNvSpPr txBox="1">
            <a:spLocks/>
          </p:cNvSpPr>
          <p:nvPr/>
        </p:nvSpPr>
        <p:spPr>
          <a:xfrm>
            <a:off x="691079" y="2886117"/>
            <a:ext cx="4038652" cy="3276824"/>
          </a:xfrm>
          <a:prstGeom prst="rect">
            <a:avLst/>
          </a:prstGeom>
        </p:spPr>
        <p:txBody>
          <a:bodyPr lIns="109728" tIns="109728" rIns="109728" bIns="9144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20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8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6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4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4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用户</a:t>
            </a:r>
            <a:endParaRPr lang="en-US" altLang="zh-CN" dirty="0"/>
          </a:p>
          <a:p>
            <a:r>
              <a:rPr lang="zh-CN" altLang="en-US" dirty="0"/>
              <a:t>商品</a:t>
            </a:r>
            <a:endParaRPr lang="en-US" altLang="zh-CN" dirty="0"/>
          </a:p>
          <a:p>
            <a:r>
              <a:rPr lang="zh-CN" altLang="en-US" dirty="0"/>
              <a:t>评论</a:t>
            </a:r>
            <a:endParaRPr lang="en-US" altLang="zh-CN" dirty="0"/>
          </a:p>
          <a:p>
            <a:r>
              <a:rPr lang="zh-CN" altLang="en-US" dirty="0"/>
              <a:t>消息</a:t>
            </a:r>
            <a:endParaRPr lang="en-US" altLang="zh-CN" dirty="0"/>
          </a:p>
          <a:p>
            <a:r>
              <a:rPr lang="zh-CN" altLang="en-US" dirty="0"/>
              <a:t>类别</a:t>
            </a:r>
            <a:endParaRPr lang="en-US" altLang="zh-CN" dirty="0"/>
          </a:p>
          <a:p>
            <a:r>
              <a:rPr lang="zh-CN" altLang="en-US" dirty="0"/>
              <a:t>收藏夹</a:t>
            </a:r>
            <a:endParaRPr lang="en-US" altLang="zh-CN" dirty="0"/>
          </a:p>
          <a:p>
            <a:r>
              <a:rPr lang="zh-CN" altLang="en-US" dirty="0"/>
              <a:t>订单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3609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591A4A5-C00F-4B45-9735-FD2841BF3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A16FDB6-C8B8-4BB9-B5F6-C9E7D1549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65D67BC-2831-45D1-804D-2B848B7FF6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3254059-39EC-48CC-B948-9EE6B05517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F3E0572-7D5E-4FAA-B67C-23A9C6D71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C5F1231-CF22-4258-B764-592B6CB8DC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B2C5387-42A2-4464-BF18-E70B0227B9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926F39D-AFC8-4FF6-9211-84AA777176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D812696-9AF7-4D2B-A041-80C015F33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E6CB557-1E5B-4D2D-9330-8EB4AF730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03A4B30-3A15-4294-9BED-E7317857F0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E7B8343-CDF9-4023-9FBF-F4ADE601B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B30BD5-639D-4F53-BC6C-2A8D0FFFE5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D7E1947-04B8-4F0B-9E3C-FC4E26D61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3EDB6D6-D309-48D4-87F4-AAED7C57C7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F2E163F-B043-43B7-85CE-36F2136B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F6CB03C-E3B1-4D22-ABA3-986CC09FB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9B41E31-EE5F-423F-8B88-3B56009A34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59D4FE6-B271-4427-8273-0B80EF1366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F7D26D0-83A1-41B0-82E3-FB5D3E93EE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7E47C02-EBB8-4368-815C-FEDA23368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E61DA55-8618-4048-A65A-41E072D9F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DFC058B-6608-4509-92E1-D4D0D5BD5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9E3652A3-36D6-4E0C-B7FB-52CD69E9C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BF82BE6-B2D5-4FA1-98B4-1E0072C39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ECA553C-C7B8-4353-BC4C-D622087D6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F802227-5CA9-40B4-870E-495C7899C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1A19F9E-BB49-4808-8481-77F848C2F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53A57BE-F139-4C31-8201-477E20DD2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9F800EC-2D85-47C7-BFB8-B146DD929C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478BA6D-3F48-40B1-8227-830029B62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21E6C45-0A76-456E-BDD6-3DCB66126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ight Triangle 46">
            <a:extLst>
              <a:ext uri="{FF2B5EF4-FFF2-40B4-BE49-F238E27FC236}">
                <a16:creationId xmlns:a16="http://schemas.microsoft.com/office/drawing/2014/main" id="{3C541D4F-11C2-4F36-B2A3-AB9028F2A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05909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363C906-BFA8-BF3E-9A76-EA1B37EAE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2"/>
            <a:ext cx="5871322" cy="1881178"/>
          </a:xfrm>
        </p:spPr>
        <p:txBody>
          <a:bodyPr>
            <a:normAutofit/>
          </a:bodyPr>
          <a:lstStyle/>
          <a:p>
            <a:r>
              <a:rPr lang="zh-CN" altLang="en-US" dirty="0"/>
              <a:t>系统设计 </a:t>
            </a:r>
            <a:r>
              <a:rPr lang="en-US" altLang="zh-CN" dirty="0"/>
              <a:t>– </a:t>
            </a:r>
            <a:r>
              <a:rPr lang="zh-CN" altLang="en-US" dirty="0"/>
              <a:t>应用架构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D28FDD-568F-6431-D82A-87F3A4596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7"/>
            <a:ext cx="4038652" cy="3276824"/>
          </a:xfrm>
        </p:spPr>
        <p:txBody>
          <a:bodyPr>
            <a:normAutofit/>
          </a:bodyPr>
          <a:lstStyle/>
          <a:p>
            <a:r>
              <a:rPr lang="zh-CN" altLang="en-US" dirty="0"/>
              <a:t>前端采用</a:t>
            </a:r>
            <a:r>
              <a:rPr lang="en-US" altLang="zh-CN" dirty="0"/>
              <a:t>vue3+element </a:t>
            </a:r>
            <a:r>
              <a:rPr lang="en-US" altLang="zh-CN" dirty="0" err="1"/>
              <a:t>plus+axios</a:t>
            </a:r>
            <a:r>
              <a:rPr lang="zh-CN" altLang="en-US" dirty="0"/>
              <a:t>框架进行数据交互与展示。</a:t>
            </a:r>
            <a:endParaRPr lang="en-US" altLang="zh-CN" dirty="0"/>
          </a:p>
          <a:p>
            <a:r>
              <a:rPr lang="zh-CN" altLang="en-US" dirty="0"/>
              <a:t>后端使用</a:t>
            </a:r>
            <a:r>
              <a:rPr lang="en-US" altLang="zh-CN" dirty="0"/>
              <a:t>python</a:t>
            </a:r>
            <a:r>
              <a:rPr lang="zh-CN" altLang="en-US" dirty="0"/>
              <a:t>搭建本地服务器，处理数据、存储图片以及和</a:t>
            </a:r>
            <a:r>
              <a:rPr lang="en-US" altLang="zh-CN" dirty="0" err="1"/>
              <a:t>TaurusDB</a:t>
            </a:r>
            <a:r>
              <a:rPr lang="zh-CN" altLang="en-US" dirty="0"/>
              <a:t>进行</a:t>
            </a:r>
            <a:r>
              <a:rPr lang="en-US" altLang="zh-CN" dirty="0" err="1"/>
              <a:t>sql</a:t>
            </a:r>
            <a:r>
              <a:rPr lang="zh-CN" altLang="en-US" dirty="0"/>
              <a:t>请求。</a:t>
            </a:r>
          </a:p>
        </p:txBody>
      </p:sp>
      <p:pic>
        <p:nvPicPr>
          <p:cNvPr id="7" name="图片 6" descr="图示&#10;&#10;AI 生成的内容可能不正确。">
            <a:extLst>
              <a:ext uri="{FF2B5EF4-FFF2-40B4-BE49-F238E27FC236}">
                <a16:creationId xmlns:a16="http://schemas.microsoft.com/office/drawing/2014/main" id="{C274E680-9ACC-0BCA-0AF3-415675A58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052" b="31618"/>
          <a:stretch>
            <a:fillRect/>
          </a:stretch>
        </p:blipFill>
        <p:spPr>
          <a:xfrm>
            <a:off x="6109505" y="748881"/>
            <a:ext cx="4466599" cy="5414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997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807FB-BF8C-90F9-4B60-FFD368A30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12A2D3-E1F4-78B3-39B8-8493B34A7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当前进度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BB70D263-9656-FDDC-C325-0B1F95C36044}"/>
              </a:ext>
            </a:extLst>
          </p:cNvPr>
          <p:cNvSpPr txBox="1">
            <a:spLocks/>
          </p:cNvSpPr>
          <p:nvPr/>
        </p:nvSpPr>
        <p:spPr>
          <a:xfrm>
            <a:off x="664627" y="2855225"/>
            <a:ext cx="5762625" cy="3276824"/>
          </a:xfrm>
          <a:prstGeom prst="rect">
            <a:avLst/>
          </a:prstGeom>
        </p:spPr>
        <p:txBody>
          <a:bodyPr lIns="109728" tIns="109728" rIns="109728" bIns="9144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20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8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6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4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4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完成了基本</a:t>
            </a:r>
            <a:r>
              <a:rPr lang="en-US" altLang="zh-CN" dirty="0" err="1"/>
              <a:t>api</a:t>
            </a:r>
            <a:r>
              <a:rPr lang="zh-CN" altLang="en-US" dirty="0"/>
              <a:t>的设计与前后端对接</a:t>
            </a:r>
          </a:p>
        </p:txBody>
      </p:sp>
      <p:pic>
        <p:nvPicPr>
          <p:cNvPr id="7" name="内容占位符 6" descr="电脑萤幕的截图&#10;&#10;AI 生成的内容可能不正确。">
            <a:extLst>
              <a:ext uri="{FF2B5EF4-FFF2-40B4-BE49-F238E27FC236}">
                <a16:creationId xmlns:a16="http://schemas.microsoft.com/office/drawing/2014/main" id="{D8EF2392-B142-02F7-E021-DEB387CAFB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0797" y="1528183"/>
            <a:ext cx="3174339" cy="4993411"/>
          </a:xfrm>
        </p:spPr>
      </p:pic>
      <p:pic>
        <p:nvPicPr>
          <p:cNvPr id="11" name="图片 10" descr="屏幕上有字&#10;&#10;AI 生成的内容可能不正确。">
            <a:extLst>
              <a:ext uri="{FF2B5EF4-FFF2-40B4-BE49-F238E27FC236}">
                <a16:creationId xmlns:a16="http://schemas.microsoft.com/office/drawing/2014/main" id="{48FB0CA8-4093-E978-5E35-B19E6C343F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0" y="3883169"/>
            <a:ext cx="5762625" cy="263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773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B78222-AF88-5F4E-C67C-67F639E60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当前进度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CB4DF7F1-CF67-29BB-E7BB-B0E47C575D7C}"/>
              </a:ext>
            </a:extLst>
          </p:cNvPr>
          <p:cNvSpPr txBox="1">
            <a:spLocks/>
          </p:cNvSpPr>
          <p:nvPr/>
        </p:nvSpPr>
        <p:spPr>
          <a:xfrm>
            <a:off x="691079" y="2886117"/>
            <a:ext cx="4038652" cy="3276824"/>
          </a:xfrm>
          <a:prstGeom prst="rect">
            <a:avLst/>
          </a:prstGeom>
        </p:spPr>
        <p:txBody>
          <a:bodyPr lIns="109728" tIns="109728" rIns="109728" bIns="9144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20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8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6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4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Char char="§"/>
              <a:defRPr sz="1400" kern="1200" spc="8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简易的登录界面以及登录、注册功能的实现</a:t>
            </a:r>
            <a:endParaRPr lang="en-US" altLang="zh-CN" dirty="0"/>
          </a:p>
          <a:p>
            <a:r>
              <a:rPr lang="zh-CN" altLang="en-US" dirty="0"/>
              <a:t>主页基本的结构设计</a:t>
            </a:r>
          </a:p>
        </p:txBody>
      </p:sp>
      <p:pic>
        <p:nvPicPr>
          <p:cNvPr id="8" name="图片 7" descr="电脑萤幕的截图&#10;&#10;AI 生成的内容可能不正确。">
            <a:extLst>
              <a:ext uri="{FF2B5EF4-FFF2-40B4-BE49-F238E27FC236}">
                <a16:creationId xmlns:a16="http://schemas.microsoft.com/office/drawing/2014/main" id="{6654B1B5-7209-59BF-86E2-741637B200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2596" y="3569838"/>
            <a:ext cx="6096000" cy="3082542"/>
          </a:xfrm>
          <a:prstGeom prst="rect">
            <a:avLst/>
          </a:prstGeom>
        </p:spPr>
      </p:pic>
      <p:pic>
        <p:nvPicPr>
          <p:cNvPr id="10" name="图片 9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230600E4-8A11-8C57-F7F1-1BB35618E2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2596" y="0"/>
            <a:ext cx="6040633" cy="3557280"/>
          </a:xfrm>
          <a:prstGeom prst="rect">
            <a:avLst/>
          </a:prstGeom>
        </p:spPr>
      </p:pic>
      <p:pic>
        <p:nvPicPr>
          <p:cNvPr id="14" name="内容占位符 13" descr="屏幕上有字&#10;&#10;AI 生成的内容可能不正确。">
            <a:extLst>
              <a:ext uri="{FF2B5EF4-FFF2-40B4-BE49-F238E27FC236}">
                <a16:creationId xmlns:a16="http://schemas.microsoft.com/office/drawing/2014/main" id="{5F423116-6067-7E45-F3CE-F2FA6B8F6B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036" y="5953156"/>
            <a:ext cx="4830473" cy="683633"/>
          </a:xfrm>
        </p:spPr>
      </p:pic>
    </p:spTree>
    <p:extLst>
      <p:ext uri="{BB962C8B-B14F-4D97-AF65-F5344CB8AC3E}">
        <p14:creationId xmlns:p14="http://schemas.microsoft.com/office/powerpoint/2010/main" val="3800580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02CD45-1CDC-0E42-3241-95D69A02F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后续安排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8882EF1-CF91-C1AF-D3AC-5B92A6172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逐步实现商品的发布、修改、删除、购买等，以及评论、私信、收藏等实用功能。</a:t>
            </a:r>
          </a:p>
        </p:txBody>
      </p:sp>
    </p:spTree>
    <p:extLst>
      <p:ext uri="{BB962C8B-B14F-4D97-AF65-F5344CB8AC3E}">
        <p14:creationId xmlns:p14="http://schemas.microsoft.com/office/powerpoint/2010/main" val="748606958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Custom 133">
      <a:dk1>
        <a:sysClr val="windowText" lastClr="000000"/>
      </a:dk1>
      <a:lt1>
        <a:sysClr val="window" lastClr="FFFFFF"/>
      </a:lt1>
      <a:dk2>
        <a:srgbClr val="2A2735"/>
      </a:dk2>
      <a:lt2>
        <a:srgbClr val="EEEEEE"/>
      </a:lt2>
      <a:accent1>
        <a:srgbClr val="1EBE9B"/>
      </a:accent1>
      <a:accent2>
        <a:srgbClr val="8F99BB"/>
      </a:accent2>
      <a:accent3>
        <a:srgbClr val="FD8686"/>
      </a:accent3>
      <a:accent4>
        <a:srgbClr val="A3A3C1"/>
      </a:accent4>
      <a:accent5>
        <a:srgbClr val="7162FE"/>
      </a:accent5>
      <a:accent6>
        <a:srgbClr val="E76445"/>
      </a:accent6>
      <a:hlink>
        <a:srgbClr val="EF08F7"/>
      </a:hlink>
      <a:folHlink>
        <a:srgbClr val="8477FE"/>
      </a:folHlink>
    </a:clrScheme>
    <a:fontScheme name="Custom 50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118</Words>
  <Application>Microsoft Office PowerPoint</Application>
  <PresentationFormat>宽屏</PresentationFormat>
  <Paragraphs>22</Paragraphs>
  <Slides>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Microsoft YaHei</vt:lpstr>
      <vt:lpstr>Arial</vt:lpstr>
      <vt:lpstr>Wingdings</vt:lpstr>
      <vt:lpstr>CosineVTI</vt:lpstr>
      <vt:lpstr>TradeHub – 二手交易平台</vt:lpstr>
      <vt:lpstr>系统设计 – 数据库架构</vt:lpstr>
      <vt:lpstr>系统设计 – 应用架构</vt:lpstr>
      <vt:lpstr>当前进度</vt:lpstr>
      <vt:lpstr>当前进度</vt:lpstr>
      <vt:lpstr>后续安排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佳思 华</dc:creator>
  <cp:lastModifiedBy>佳思 华</cp:lastModifiedBy>
  <cp:revision>2</cp:revision>
  <dcterms:created xsi:type="dcterms:W3CDTF">2025-10-28T12:14:46Z</dcterms:created>
  <dcterms:modified xsi:type="dcterms:W3CDTF">2025-10-28T15:42:14Z</dcterms:modified>
</cp:coreProperties>
</file>